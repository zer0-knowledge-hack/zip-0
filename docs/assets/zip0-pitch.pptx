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 it plainly and stop: "My name is Julio Severiche, and this is ZIP-0." Do not explain the name.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pause after "48,600 arrives" is the whole pitch. Let them do the subtraction. If you fill the silence they hear a statistic, not a loss.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 not say "we replace SWIFT". We replace the settlement layer. Give "twenty-seven trillion" room to land.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First time you may say the word "contract". Still do not say "blockchain".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Switch to the deployed app on this slide. The figure moves because it is read from the chain, not stored in the deck.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 not soften this slide. Every other team will claim more than they built - stating the limits is the differentiator, not a caveat.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Name the team. Five people, and every one of these contributions is in the commit history — do not inflate the roles.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End on the line. Do not add a thank-you sentence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" y="731520"/>
            <a:ext cx="10454335" cy="10973"/>
          </a:xfrm>
          <a:prstGeom prst="rect">
            <a:avLst/>
          </a:prstGeom>
          <a:solidFill>
            <a:srgbClr val="243040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2286000"/>
            <a:ext cx="1188720" cy="118872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2473452" y="2095805"/>
            <a:ext cx="5486400" cy="1545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600" b="1" spc="200" kern="0" dirty="0">
                <a:solidFill>
                  <a:srgbClr val="E6EA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ZIP·0</a:t>
            </a:r>
            <a:endParaRPr lang="en-US" sz="6600" dirty="0"/>
          </a:p>
        </p:txBody>
      </p:sp>
      <p:sp>
        <p:nvSpPr>
          <p:cNvPr id="6" name="Text 2"/>
          <p:cNvSpPr/>
          <p:nvPr/>
        </p:nvSpPr>
        <p:spPr>
          <a:xfrm>
            <a:off x="868680" y="406908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96A3B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Cross-border settlement for institutions that cannot hold crypto.</a:t>
            </a:r>
            <a:endParaRPr lang="en-US" sz="2000" dirty="0"/>
          </a:p>
        </p:txBody>
      </p:sp>
      <p:sp>
        <p:nvSpPr>
          <p:cNvPr id="7" name="Shape 3"/>
          <p:cNvSpPr/>
          <p:nvPr/>
        </p:nvSpPr>
        <p:spPr>
          <a:xfrm>
            <a:off x="868680" y="6053328"/>
            <a:ext cx="10454335" cy="10973"/>
          </a:xfrm>
          <a:prstGeom prst="rect">
            <a:avLst/>
          </a:prstGeom>
          <a:solidFill>
            <a:srgbClr val="24304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868680" y="61722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71839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Julio Severiche</a:t>
            </a:r>
            <a:endParaRPr lang="en-US" sz="1000" dirty="0"/>
          </a:p>
        </p:txBody>
      </p:sp>
      <p:sp>
        <p:nvSpPr>
          <p:cNvPr id="9" name="Text 5"/>
          <p:cNvSpPr/>
          <p:nvPr/>
        </p:nvSpPr>
        <p:spPr>
          <a:xfrm>
            <a:off x="10408615" y="61722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1839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" y="731520"/>
            <a:ext cx="10454335" cy="10973"/>
          </a:xfrm>
          <a:prstGeom prst="rect">
            <a:avLst/>
          </a:prstGeom>
          <a:solidFill>
            <a:srgbClr val="24304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868680" y="1325880"/>
            <a:ext cx="104543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71839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 EXPORTER IN COCHABAMBA SHIPS TO BRAZIL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868680" y="2441448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6A3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Invoiced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5897880" y="2057400"/>
            <a:ext cx="5425135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4000" dirty="0">
                <a:solidFill>
                  <a:srgbClr val="E6EA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50,000.00</a:t>
            </a:r>
            <a:pPr algn="r" indent="0" marL="0">
              <a:buNone/>
            </a:pPr>
            <a:r>
              <a:rPr lang="en-US" sz="1600" dirty="0">
                <a:solidFill>
                  <a:srgbClr val="71839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USD</a:t>
            </a:r>
            <a:endParaRPr lang="en-US" sz="4000" dirty="0"/>
          </a:p>
        </p:txBody>
      </p:sp>
      <p:sp>
        <p:nvSpPr>
          <p:cNvPr id="7" name="Shape 4"/>
          <p:cNvSpPr/>
          <p:nvPr/>
        </p:nvSpPr>
        <p:spPr>
          <a:xfrm>
            <a:off x="868680" y="2971800"/>
            <a:ext cx="10454335" cy="7315"/>
          </a:xfrm>
          <a:prstGeom prst="rect">
            <a:avLst/>
          </a:prstGeom>
          <a:solidFill>
            <a:srgbClr val="24304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68680" y="3584448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6A3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Arrived, eleven days later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897880" y="3200400"/>
            <a:ext cx="5425135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4000" dirty="0">
                <a:solidFill>
                  <a:srgbClr val="E6EA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48,600.00</a:t>
            </a:r>
            <a:pPr algn="r" indent="0" marL="0">
              <a:buNone/>
            </a:pPr>
            <a:r>
              <a:rPr lang="en-US" sz="1600" dirty="0">
                <a:solidFill>
                  <a:srgbClr val="71839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USD</a:t>
            </a:r>
            <a:endParaRPr lang="en-US" sz="4000" dirty="0"/>
          </a:p>
        </p:txBody>
      </p:sp>
      <p:sp>
        <p:nvSpPr>
          <p:cNvPr id="10" name="Shape 7"/>
          <p:cNvSpPr/>
          <p:nvPr/>
        </p:nvSpPr>
        <p:spPr>
          <a:xfrm>
            <a:off x="868680" y="4114800"/>
            <a:ext cx="10454335" cy="7315"/>
          </a:xfrm>
          <a:prstGeom prst="rect">
            <a:avLst/>
          </a:prstGeom>
          <a:solidFill>
            <a:srgbClr val="24304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68680" y="4727448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Taken in flight by three banks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5897880" y="4343400"/>
            <a:ext cx="5425135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40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−1,400.00</a:t>
            </a:r>
            <a:pPr algn="r" indent="0" marL="0">
              <a:buNone/>
            </a:pPr>
            <a:r>
              <a:rPr lang="en-US" sz="1600" dirty="0">
                <a:solidFill>
                  <a:srgbClr val="71839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USD</a:t>
            </a:r>
            <a:endParaRPr lang="en-US" sz="4000" dirty="0"/>
          </a:p>
        </p:txBody>
      </p:sp>
      <p:sp>
        <p:nvSpPr>
          <p:cNvPr id="13" name="Shape 10"/>
          <p:cNvSpPr/>
          <p:nvPr/>
        </p:nvSpPr>
        <p:spPr>
          <a:xfrm>
            <a:off x="868680" y="6053328"/>
            <a:ext cx="10454335" cy="10973"/>
          </a:xfrm>
          <a:prstGeom prst="rect">
            <a:avLst/>
          </a:prstGeom>
          <a:solidFill>
            <a:srgbClr val="24304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68680" y="61722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71839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Nobody stole anything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10408615" y="61722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1839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" y="731520"/>
            <a:ext cx="10454335" cy="10973"/>
          </a:xfrm>
          <a:prstGeom prst="rect">
            <a:avLst/>
          </a:prstGeom>
          <a:solidFill>
            <a:srgbClr val="24304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868680" y="1325880"/>
            <a:ext cx="104543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71839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THE MONEY ACTUALLY MOVES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868680" y="20116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E6EA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SWIFT</a:t>
            </a:r>
            <a:pPr indent="0" marL="0">
              <a:buNone/>
            </a:pPr>
            <a:r>
              <a:rPr lang="en-US" sz="1300" spc="100" kern="0" dirty="0">
                <a:solidFill>
                  <a:srgbClr val="71839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MESSAGING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868680" y="2542032"/>
            <a:ext cx="10454335" cy="27432"/>
          </a:xfrm>
          <a:prstGeom prst="rect">
            <a:avLst/>
          </a:prstGeom>
          <a:solidFill>
            <a:srgbClr val="4B86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68680" y="2697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6A3B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Carries the instruction. Never holds the money.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68680" y="37947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E6EA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CORRESPONDENT BANKING</a:t>
            </a:r>
            <a:pPr indent="0" marL="0">
              <a:buNone/>
            </a:pPr>
            <a:r>
              <a:rPr lang="en-US" sz="1300" spc="100" kern="0" dirty="0">
                <a:solidFill>
                  <a:srgbClr val="71839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SETTLEMENT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868680" y="4379976"/>
            <a:ext cx="10454335" cy="27432"/>
          </a:xfrm>
          <a:prstGeom prst="rect">
            <a:avLst/>
          </a:prstGeom>
          <a:solidFill>
            <a:srgbClr val="24304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558150" y="4151376"/>
            <a:ext cx="475488" cy="475488"/>
          </a:xfrm>
          <a:prstGeom prst="ellipse">
            <a:avLst/>
          </a:prstGeom>
          <a:solidFill>
            <a:srgbClr val="141A23"/>
          </a:solidFill>
          <a:ln w="15875">
            <a:solidFill>
              <a:srgbClr val="FBBF24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558150" y="4178808"/>
            <a:ext cx="47548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−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5858104" y="4151376"/>
            <a:ext cx="475488" cy="475488"/>
          </a:xfrm>
          <a:prstGeom prst="ellipse">
            <a:avLst/>
          </a:prstGeom>
          <a:solidFill>
            <a:srgbClr val="141A23"/>
          </a:solidFill>
          <a:ln w="15875">
            <a:solidFill>
              <a:srgbClr val="FBBF24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858104" y="4178808"/>
            <a:ext cx="47548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−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8158057" y="4151376"/>
            <a:ext cx="475488" cy="475488"/>
          </a:xfrm>
          <a:prstGeom prst="ellipse">
            <a:avLst/>
          </a:prstGeom>
          <a:solidFill>
            <a:srgbClr val="141A23"/>
          </a:solidFill>
          <a:ln w="15875">
            <a:solidFill>
              <a:srgbClr val="FBBF24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158057" y="4178808"/>
            <a:ext cx="47548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−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868680" y="489204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6A3B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Where the fee comes out. And where </a:t>
            </a:r>
            <a:pPr indent="0" marL="0">
              <a:buNone/>
            </a:pPr>
            <a:r>
              <a:rPr lang="en-US" sz="1600" dirty="0">
                <a:solidFill>
                  <a:srgbClr val="4B86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$27 trillion</a:t>
            </a:r>
            <a:pPr indent="0" marL="0">
              <a:buNone/>
            </a:pPr>
            <a:r>
              <a:rPr lang="en-US" sz="1600" dirty="0">
                <a:solidFill>
                  <a:srgbClr val="96A3B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sits idle, pre-funded.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868680" y="6053328"/>
            <a:ext cx="10454335" cy="10973"/>
          </a:xfrm>
          <a:prstGeom prst="rect">
            <a:avLst/>
          </a:prstGeom>
          <a:solidFill>
            <a:srgbClr val="24304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68680" y="61722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71839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layer nobody replaced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10408615" y="61722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1839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" y="731520"/>
            <a:ext cx="10454335" cy="10973"/>
          </a:xfrm>
          <a:prstGeom prst="rect">
            <a:avLst/>
          </a:prstGeom>
          <a:solidFill>
            <a:srgbClr val="24304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868680" y="1325880"/>
            <a:ext cx="104543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71839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ZIP·0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0" y="3073241"/>
            <a:ext cx="5296662" cy="162877"/>
          </a:xfrm>
          <a:prstGeom prst="rect">
            <a:avLst/>
          </a:prstGeom>
          <a:solidFill>
            <a:srgbClr val="4B86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6895033" y="3073241"/>
            <a:ext cx="5296662" cy="162877"/>
          </a:xfrm>
          <a:prstGeom prst="rect">
            <a:avLst/>
          </a:prstGeom>
          <a:solidFill>
            <a:srgbClr val="4B86FF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27168" y="2286000"/>
            <a:ext cx="1737360" cy="173736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68680" y="4572000"/>
            <a:ext cx="1045433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E6EA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rail. No intermediaries.</a:t>
            </a:r>
            <a:endParaRPr lang="en-US" sz="4400" dirty="0"/>
          </a:p>
        </p:txBody>
      </p:sp>
      <p:sp>
        <p:nvSpPr>
          <p:cNvPr id="9" name="Text 5"/>
          <p:cNvSpPr/>
          <p:nvPr/>
        </p:nvSpPr>
        <p:spPr>
          <a:xfrm>
            <a:off x="868680" y="5349240"/>
            <a:ext cx="1045433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96A3B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settlement contract holds the funds. It locks on one side and releases on the other.</a:t>
            </a:r>
            <a:endParaRPr lang="en-US" sz="1700" dirty="0"/>
          </a:p>
        </p:txBody>
      </p:sp>
      <p:sp>
        <p:nvSpPr>
          <p:cNvPr id="10" name="Shape 6"/>
          <p:cNvSpPr/>
          <p:nvPr/>
        </p:nvSpPr>
        <p:spPr>
          <a:xfrm>
            <a:off x="868680" y="6053328"/>
            <a:ext cx="10454335" cy="10973"/>
          </a:xfrm>
          <a:prstGeom prst="rect">
            <a:avLst/>
          </a:prstGeom>
          <a:solidFill>
            <a:srgbClr val="24304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868680" y="61722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71839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 pre-funded account in every corridor</a:t>
            </a:r>
            <a:endParaRPr lang="en-US" sz="1000" dirty="0"/>
          </a:p>
        </p:txBody>
      </p:sp>
      <p:sp>
        <p:nvSpPr>
          <p:cNvPr id="12" name="Text 8"/>
          <p:cNvSpPr/>
          <p:nvPr/>
        </p:nvSpPr>
        <p:spPr>
          <a:xfrm>
            <a:off x="10408615" y="61722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1839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" y="731520"/>
            <a:ext cx="10454335" cy="10973"/>
          </a:xfrm>
          <a:prstGeom prst="rect">
            <a:avLst/>
          </a:prstGeom>
          <a:solidFill>
            <a:srgbClr val="24304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868680" y="1371600"/>
            <a:ext cx="128016" cy="128016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1143000" y="12984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LIVE ON HASHKEY CHAIN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868680" y="2148840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spc="150" kern="0" dirty="0">
                <a:solidFill>
                  <a:srgbClr val="71839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SETTLEMENT CONTRACT — SOURCE VERIFIED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868680" y="2450592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E6EA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0x3028a9AfCD5E2c3C2E1fD35d984Be65640ca4e07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868680" y="3429000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spc="150" kern="0" dirty="0">
                <a:solidFill>
                  <a:srgbClr val="71839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AVAILABLE FUNDS — READ EVERY 15 SECONDS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868680" y="3730752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dirty="0">
                <a:solidFill>
                  <a:srgbClr val="E6EA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49,999.60 USDC</a:t>
            </a:r>
            <a:endParaRPr lang="en-US" sz="3800" dirty="0"/>
          </a:p>
        </p:txBody>
      </p:sp>
      <p:sp>
        <p:nvSpPr>
          <p:cNvPr id="10" name="Text 7"/>
          <p:cNvSpPr/>
          <p:nvPr/>
        </p:nvSpPr>
        <p:spPr>
          <a:xfrm>
            <a:off x="868680" y="4800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96A3B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 do not have to believe me. You can read it.</a:t>
            </a:r>
            <a:endParaRPr lang="en-US" sz="1900" dirty="0"/>
          </a:p>
        </p:txBody>
      </p:sp>
      <p:sp>
        <p:nvSpPr>
          <p:cNvPr id="11" name="Shape 8"/>
          <p:cNvSpPr/>
          <p:nvPr/>
        </p:nvSpPr>
        <p:spPr>
          <a:xfrm>
            <a:off x="868680" y="6053328"/>
            <a:ext cx="10454335" cy="10973"/>
          </a:xfrm>
          <a:prstGeom prst="rect">
            <a:avLst/>
          </a:prstGeom>
          <a:solidFill>
            <a:srgbClr val="24304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68680" y="61722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71839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Switch to the deployed app here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10408615" y="61722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1839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" y="731520"/>
            <a:ext cx="10454335" cy="10973"/>
          </a:xfrm>
          <a:prstGeom prst="rect">
            <a:avLst/>
          </a:prstGeom>
          <a:solidFill>
            <a:srgbClr val="24304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868680" y="1325880"/>
            <a:ext cx="104543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71839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LET ME BE PRECISE ABOUT WHAT THIS IS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868680" y="2286000"/>
            <a:ext cx="1184148" cy="658368"/>
          </a:xfrm>
          <a:prstGeom prst="rect">
            <a:avLst/>
          </a:prstGeom>
          <a:solidFill>
            <a:srgbClr val="141A23"/>
          </a:solidFill>
          <a:ln w="12700">
            <a:solidFill>
              <a:srgbClr val="24304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68680" y="2286000"/>
            <a:ext cx="118414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6EA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Testnet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2327148" y="2286000"/>
            <a:ext cx="1449324" cy="658368"/>
          </a:xfrm>
          <a:prstGeom prst="rect">
            <a:avLst/>
          </a:prstGeom>
          <a:solidFill>
            <a:srgbClr val="141A23"/>
          </a:solidFill>
          <a:ln w="12700">
            <a:solidFill>
              <a:srgbClr val="24304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327148" y="2286000"/>
            <a:ext cx="1449324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6EA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Unaudited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4050792" y="2286000"/>
            <a:ext cx="2377440" cy="658368"/>
          </a:xfrm>
          <a:prstGeom prst="rect">
            <a:avLst/>
          </a:prstGeom>
          <a:solidFill>
            <a:srgbClr val="141A23"/>
          </a:solidFill>
          <a:ln w="12700">
            <a:solidFill>
              <a:srgbClr val="24304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050792" y="2286000"/>
            <a:ext cx="23774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6EA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Trusted operator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6702552" y="2286000"/>
            <a:ext cx="2244852" cy="658368"/>
          </a:xfrm>
          <a:prstGeom prst="rect">
            <a:avLst/>
          </a:prstGeom>
          <a:solidFill>
            <a:srgbClr val="141A23"/>
          </a:solidFill>
          <a:ln w="12700">
            <a:solidFill>
              <a:srgbClr val="24304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702552" y="2286000"/>
            <a:ext cx="224485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6EA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Submit disabled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868680" y="3749040"/>
            <a:ext cx="8686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E6EA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 figure in the interface came from a real chain read — or it says unavailable.</a:t>
            </a:r>
            <a:endParaRPr lang="en-US" sz="2400" dirty="0"/>
          </a:p>
        </p:txBody>
      </p:sp>
      <p:sp>
        <p:nvSpPr>
          <p:cNvPr id="14" name="Shape 11"/>
          <p:cNvSpPr/>
          <p:nvPr/>
        </p:nvSpPr>
        <p:spPr>
          <a:xfrm>
            <a:off x="868680" y="6053328"/>
            <a:ext cx="10454335" cy="10973"/>
          </a:xfrm>
          <a:prstGeom prst="rect">
            <a:avLst/>
          </a:prstGeom>
          <a:solidFill>
            <a:srgbClr val="24304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68680" y="61722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71839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Nothing here is decoration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10408615" y="61722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1839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" y="731520"/>
            <a:ext cx="10454335" cy="10973"/>
          </a:xfrm>
          <a:prstGeom prst="rect">
            <a:avLst/>
          </a:prstGeom>
          <a:solidFill>
            <a:srgbClr val="24304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868680" y="1325880"/>
            <a:ext cx="104543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71839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BUILT BY FIVE PEOPLE IN BOLIVIA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868680" y="2057400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E6EA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Julio Severiche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5257800" y="2057400"/>
            <a:ext cx="606521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6A3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Architecture · Web · Identity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68680" y="2633472"/>
            <a:ext cx="10454335" cy="7315"/>
          </a:xfrm>
          <a:prstGeom prst="rect">
            <a:avLst/>
          </a:prstGeom>
          <a:solidFill>
            <a:srgbClr val="24304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68680" y="2807208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E6EA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Moises Cisneros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5257800" y="2807208"/>
            <a:ext cx="606521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6A3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CCTP bridge · SDK · Gateway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868680" y="3383280"/>
            <a:ext cx="10454335" cy="7315"/>
          </a:xfrm>
          <a:prstGeom prst="rect">
            <a:avLst/>
          </a:prstGeom>
          <a:solidFill>
            <a:srgbClr val="24304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68680" y="3557016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E6EA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Fernando Vasquez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5257800" y="3557016"/>
            <a:ext cx="606521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6A3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Settlement rail · Gasless deposits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868680" y="4133088"/>
            <a:ext cx="10454335" cy="7315"/>
          </a:xfrm>
          <a:prstGeom prst="rect">
            <a:avLst/>
          </a:prstGeom>
          <a:solidFill>
            <a:srgbClr val="24304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68680" y="4306824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E6EA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Luishiño Pericena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5257800" y="4306824"/>
            <a:ext cx="606521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6A3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Live payment evidence · Relayer state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868680" y="4882896"/>
            <a:ext cx="10454335" cy="7315"/>
          </a:xfrm>
          <a:prstGeom prst="rect">
            <a:avLst/>
          </a:prstGeom>
          <a:solidFill>
            <a:srgbClr val="24304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68680" y="5056632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E6EA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William Y.M</a:t>
            </a:r>
            <a:endParaRPr lang="en-US" sz="2200" dirty="0"/>
          </a:p>
        </p:txBody>
      </p:sp>
      <p:sp>
        <p:nvSpPr>
          <p:cNvPr id="18" name="Text 15"/>
          <p:cNvSpPr/>
          <p:nvPr/>
        </p:nvSpPr>
        <p:spPr>
          <a:xfrm>
            <a:off x="5257800" y="5056632"/>
            <a:ext cx="606521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6A3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Refund timeout · Relayer acknowledgement</a:t>
            </a:r>
            <a:endParaRPr lang="en-US" sz="1250" dirty="0"/>
          </a:p>
        </p:txBody>
      </p:sp>
      <p:sp>
        <p:nvSpPr>
          <p:cNvPr id="19" name="Shape 16"/>
          <p:cNvSpPr/>
          <p:nvPr/>
        </p:nvSpPr>
        <p:spPr>
          <a:xfrm>
            <a:off x="868680" y="6053328"/>
            <a:ext cx="10454335" cy="10973"/>
          </a:xfrm>
          <a:prstGeom prst="rect">
            <a:avLst/>
          </a:prstGeom>
          <a:solidFill>
            <a:srgbClr val="24304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868680" y="61722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71839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Zer0-Knowledge-Hack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10408615" y="61722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1839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" y="731520"/>
            <a:ext cx="10454335" cy="10973"/>
          </a:xfrm>
          <a:prstGeom prst="rect">
            <a:avLst/>
          </a:prstGeom>
          <a:solidFill>
            <a:srgbClr val="243040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463040"/>
            <a:ext cx="914400" cy="9144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2103120" y="1316736"/>
            <a:ext cx="5486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spc="200" kern="0" dirty="0">
                <a:solidFill>
                  <a:srgbClr val="E6EA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ZIP·0</a:t>
            </a:r>
            <a:endParaRPr lang="en-US" sz="4600" dirty="0"/>
          </a:p>
        </p:txBody>
      </p:sp>
      <p:sp>
        <p:nvSpPr>
          <p:cNvPr id="6" name="Text 2"/>
          <p:cNvSpPr/>
          <p:nvPr/>
        </p:nvSpPr>
        <p:spPr>
          <a:xfrm>
            <a:off x="868680" y="2926080"/>
            <a:ext cx="100584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5400"/>
              </a:lnSpc>
              <a:buNone/>
            </a:pPr>
            <a:r>
              <a:rPr lang="en-US" sz="4600" dirty="0">
                <a:solidFill>
                  <a:srgbClr val="E6EA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amount you send</a:t>
            </a:r>
            <a:endParaRPr lang="en-US" sz="4600" dirty="0"/>
          </a:p>
          <a:p>
            <a:pPr indent="0" marL="0">
              <a:lnSpc>
                <a:spcPts val="5400"/>
              </a:lnSpc>
              <a:buNone/>
            </a:pPr>
            <a:r>
              <a:rPr lang="en-US" sz="4600" dirty="0">
                <a:solidFill>
                  <a:srgbClr val="E6EA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is the amount that arrives.</a:t>
            </a:r>
            <a:endParaRPr lang="en-US" sz="4600" dirty="0"/>
          </a:p>
        </p:txBody>
      </p:sp>
      <p:sp>
        <p:nvSpPr>
          <p:cNvPr id="7" name="Text 3"/>
          <p:cNvSpPr/>
          <p:nvPr/>
        </p:nvSpPr>
        <p:spPr>
          <a:xfrm>
            <a:off x="868680" y="4937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6A3B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Next: an audit, and one pilot corridor — Bolivia to Brazil.</a:t>
            </a:r>
            <a:endParaRPr lang="en-US" sz="1800" dirty="0"/>
          </a:p>
        </p:txBody>
      </p:sp>
      <p:sp>
        <p:nvSpPr>
          <p:cNvPr id="8" name="Shape 4"/>
          <p:cNvSpPr/>
          <p:nvPr/>
        </p:nvSpPr>
        <p:spPr>
          <a:xfrm>
            <a:off x="868680" y="6053328"/>
            <a:ext cx="10454335" cy="10973"/>
          </a:xfrm>
          <a:prstGeom prst="rect">
            <a:avLst/>
          </a:prstGeom>
          <a:solidFill>
            <a:srgbClr val="24304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868680" y="61722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71839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ZIP·0</a:t>
            </a:r>
            <a:endParaRPr lang="en-US" sz="1000" dirty="0"/>
          </a:p>
        </p:txBody>
      </p:sp>
      <p:sp>
        <p:nvSpPr>
          <p:cNvPr id="10" name="Text 6"/>
          <p:cNvSpPr/>
          <p:nvPr/>
        </p:nvSpPr>
        <p:spPr>
          <a:xfrm>
            <a:off x="10408615" y="61722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1839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ZIP-0 — Pitch</dc:title>
  <dc:subject>PptxGenJS Presentation</dc:subject>
  <dc:creator>ZIP-0</dc:creator>
  <cp:lastModifiedBy>ZIP-0</cp:lastModifiedBy>
  <cp:revision>1</cp:revision>
  <dcterms:created xsi:type="dcterms:W3CDTF">2026-09-13T08:25:11Z</dcterms:created>
  <dcterms:modified xsi:type="dcterms:W3CDTF">2026-09-13T08:25:11Z</dcterms:modified>
</cp:coreProperties>
</file>